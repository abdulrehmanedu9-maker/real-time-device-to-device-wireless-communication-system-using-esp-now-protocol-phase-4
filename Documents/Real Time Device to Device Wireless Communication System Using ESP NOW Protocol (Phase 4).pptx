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82" r:id="rId3"/>
    <p:sldId id="280" r:id="rId4"/>
    <p:sldId id="281" r:id="rId5"/>
    <p:sldId id="283" r:id="rId6"/>
    <p:sldId id="284" r:id="rId7"/>
    <p:sldId id="285" r:id="rId8"/>
    <p:sldId id="286" r:id="rId9"/>
    <p:sldId id="293" r:id="rId10"/>
    <p:sldId id="287" r:id="rId11"/>
    <p:sldId id="288" r:id="rId12"/>
    <p:sldId id="294" r:id="rId13"/>
    <p:sldId id="295" r:id="rId14"/>
    <p:sldId id="296" r:id="rId15"/>
    <p:sldId id="297" r:id="rId16"/>
    <p:sldId id="298" r:id="rId17"/>
    <p:sldId id="299" r:id="rId18"/>
    <p:sldId id="292" r:id="rId19"/>
    <p:sldId id="301" r:id="rId20"/>
    <p:sldId id="300" r:id="rId21"/>
    <p:sldId id="302" r:id="rId22"/>
    <p:sldId id="27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582C"/>
    <a:srgbClr val="DDAFA5"/>
    <a:srgbClr val="F2D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94660"/>
  </p:normalViewPr>
  <p:slideViewPr>
    <p:cSldViewPr snapToGrid="0">
      <p:cViewPr varScale="1">
        <p:scale>
          <a:sx n="59" d="100"/>
          <a:sy n="59" d="100"/>
        </p:scale>
        <p:origin x="11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A9D6A0-6354-4D72-B253-CD4A4B9027D3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74A974-5D68-4646-9F70-083DAEFFC46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3DE42-1EE4-4DE3-BDC3-BB68B708500E}" type="datetime8">
              <a:rPr lang="en-US" smtClean="0"/>
              <a:t>8/19/2026 8:52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E1318-88A3-459E-8853-30C53FFF8920}" type="datetime8">
              <a:rPr lang="en-US" smtClean="0"/>
              <a:t>8/19/2026 8:52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32322-5187-48BE-AB85-579374185165}" type="datetime8">
              <a:rPr lang="en-US" smtClean="0"/>
              <a:t>8/19/2026 8:52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005B-C8F0-4BA8-97F3-E1C3374C9CB7}" type="datetime8">
              <a:rPr lang="en-US" smtClean="0"/>
              <a:t>8/19/2026 8:52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9965-6729-4834-9166-661813E89041}" type="datetime8">
              <a:rPr lang="en-US" smtClean="0"/>
              <a:t>8/19/2026 8:52 AM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090E5-8AF1-4C24-9E59-97F2573F2495}" type="datetime8">
              <a:rPr lang="en-US" smtClean="0"/>
              <a:t>8/19/2026 8:52 AM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EA5AA-62E6-4D74-ADE3-B3762359E0BC}" type="datetime8">
              <a:rPr lang="en-US" smtClean="0"/>
              <a:t>8/19/2026 8:52 AM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6BBB9BD-F54D-4540-943F-6ADBDA62E742}" type="datetime8">
              <a:rPr lang="en-US" smtClean="0"/>
              <a:t>8/19/2026 8:52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F75FD1-72B1-4336-AC67-D121FDE1C6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55AC-FE61-4C59-85D2-B96A67DA0EFC}" type="datetime8">
              <a:rPr lang="en-US" smtClean="0"/>
              <a:t>8/19/2026 8:52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87DA5-81D5-41B4-9917-0F65E23911E3}" type="datetime8">
              <a:rPr lang="en-US" smtClean="0"/>
              <a:t>8/19/2026 8:52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1943E-4B3A-474C-92FF-38FDFFAAA26F}" type="datetime8">
              <a:rPr lang="en-US" smtClean="0"/>
              <a:t>8/19/2026 8:52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D476572-00FA-4C41-AE2E-004B8CE9E20D}" type="datetime8">
              <a:rPr lang="en-US" smtClean="0"/>
              <a:t>8/19/2026 8:52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0F75FD1-72B1-4336-AC67-D121FDE1C69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74F63C82-44DB-9634-C18B-5BB15BB12DFE}"/>
              </a:ext>
            </a:extLst>
          </p:cNvPr>
          <p:cNvSpPr/>
          <p:nvPr/>
        </p:nvSpPr>
        <p:spPr>
          <a:xfrm>
            <a:off x="822960" y="81658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Real Time Device to Device Wireless Communication System Using ESP-NOW Protocol</a:t>
            </a: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11235DF7-4581-5087-E1D8-3D3ECD4458E6}"/>
              </a:ext>
            </a:extLst>
          </p:cNvPr>
          <p:cNvSpPr/>
          <p:nvPr/>
        </p:nvSpPr>
        <p:spPr>
          <a:xfrm>
            <a:off x="822960" y="4713515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Abdul Rehman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Registration No: 0000674917   |   Program: BSCS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Israr Akhter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3B9AC56A-0E7A-CF70-5846-2E4B7E46FE29}"/>
              </a:ext>
            </a:extLst>
          </p:cNvPr>
          <p:cNvSpPr/>
          <p:nvPr/>
        </p:nvSpPr>
        <p:spPr>
          <a:xfrm>
            <a:off x="822960" y="3154884"/>
            <a:ext cx="9601200" cy="940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Dual Mode Severity Classification: DBMS Decision Matrix and On Device </a:t>
            </a:r>
            <a:r>
              <a:rPr lang="en-US" b="1" i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TinyML</a:t>
            </a:r>
            <a:r>
              <a:rPr lang="en-US" b="1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Inference</a:t>
            </a:r>
          </a:p>
          <a:p>
            <a:r>
              <a:rPr lang="en-US" b="1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Phase 4</a:t>
            </a:r>
            <a:endParaRPr lang="en-US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D3561BF8-4E1C-51C1-E557-55D35AE009A9}"/>
              </a:ext>
            </a:extLst>
          </p:cNvPr>
          <p:cNvSpPr/>
          <p:nvPr/>
        </p:nvSpPr>
        <p:spPr>
          <a:xfrm>
            <a:off x="8666018" y="4670071"/>
            <a:ext cx="2468880" cy="1345373"/>
          </a:xfrm>
          <a:prstGeom prst="roundRect">
            <a:avLst>
              <a:gd name="adj" fmla="val 11429"/>
            </a:avLst>
          </a:prstGeom>
          <a:solidFill>
            <a:srgbClr val="BD582C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Time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15-20 Minutes</a:t>
            </a:r>
            <a:endParaRPr lang="en-PK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F1039-84F6-E141-483E-6EFCC2467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E4BEE-ED0A-B647-65AD-81FAF9A94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Background</a:t>
            </a:r>
            <a:endParaRPr lang="en-PK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97B90-58E1-B610-CA70-661AD4D07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4423209-2EF8-2EC4-2970-0DF6D993850D}"/>
              </a:ext>
            </a:extLst>
          </p:cNvPr>
          <p:cNvSpPr/>
          <p:nvPr/>
        </p:nvSpPr>
        <p:spPr>
          <a:xfrm>
            <a:off x="664464" y="2336828"/>
            <a:ext cx="2615184" cy="3520440"/>
          </a:xfrm>
          <a:prstGeom prst="roundRect">
            <a:avLst>
              <a:gd name="adj" fmla="val 2797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BAC89A8-3C84-04E9-F68E-FB140AF964EA}"/>
              </a:ext>
            </a:extLst>
          </p:cNvPr>
          <p:cNvSpPr/>
          <p:nvPr/>
        </p:nvSpPr>
        <p:spPr>
          <a:xfrm>
            <a:off x="865632" y="2537996"/>
            <a:ext cx="2212848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>
              <a:lnSpc>
                <a:spcPct val="118000"/>
              </a:lnSpc>
            </a:pPr>
            <a:r>
              <a:rPr lang="en-US" sz="1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Phase 1</a:t>
            </a:r>
          </a:p>
          <a:p>
            <a:pPr algn="just">
              <a:lnSpc>
                <a:spcPct val="118000"/>
              </a:lnSpc>
            </a:pPr>
            <a:r>
              <a:rPr lang="en-US" sz="1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Wireless sensing link</a:t>
            </a:r>
            <a:endParaRPr lang="en-US" sz="1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8000"/>
              </a:lnSpc>
              <a:buNone/>
            </a:pPr>
            <a:endParaRPr lang="en-US" sz="1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8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Two NodeMCU (ESP8266) boards paired over ESP-NOW. A Sender on a small car carries an ultrasonic sensor and a PIR motion sensor and transmits a confirmed detection to a Receiver.</a:t>
            </a: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9EECC2DB-77AA-92B4-7238-B1ABA0B74992}"/>
              </a:ext>
            </a:extLst>
          </p:cNvPr>
          <p:cNvSpPr/>
          <p:nvPr/>
        </p:nvSpPr>
        <p:spPr>
          <a:xfrm>
            <a:off x="3480816" y="2336828"/>
            <a:ext cx="2615184" cy="3520440"/>
          </a:xfrm>
          <a:prstGeom prst="roundRect">
            <a:avLst>
              <a:gd name="adj" fmla="val 2797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7D62AFB7-A9AA-9A21-3E77-31A699EE6B9C}"/>
              </a:ext>
            </a:extLst>
          </p:cNvPr>
          <p:cNvSpPr/>
          <p:nvPr/>
        </p:nvSpPr>
        <p:spPr>
          <a:xfrm>
            <a:off x="3681984" y="2565428"/>
            <a:ext cx="2212848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>
              <a:lnSpc>
                <a:spcPct val="118000"/>
              </a:lnSpc>
            </a:pPr>
            <a:r>
              <a:rPr lang="en-US" sz="1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Phase 2</a:t>
            </a:r>
          </a:p>
          <a:p>
            <a:pPr algn="just">
              <a:lnSpc>
                <a:spcPct val="118000"/>
              </a:lnSpc>
            </a:pPr>
            <a:r>
              <a:rPr lang="en-US" sz="1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Database and dashboard</a:t>
            </a:r>
            <a:endParaRPr lang="en-US" sz="1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8000"/>
              </a:lnSpc>
              <a:buNone/>
            </a:pPr>
            <a:endParaRPr lang="en-US" sz="1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8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Receiver forwards each confirmed detection over WiFi to a PHP script, which stores it in a MySQL database. A web dashboard renders the stored data for review.</a:t>
            </a:r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F582D0D8-354B-751B-E652-811650762517}"/>
              </a:ext>
            </a:extLst>
          </p:cNvPr>
          <p:cNvSpPr/>
          <p:nvPr/>
        </p:nvSpPr>
        <p:spPr>
          <a:xfrm>
            <a:off x="6297168" y="2336828"/>
            <a:ext cx="2615184" cy="3520440"/>
          </a:xfrm>
          <a:prstGeom prst="roundRect">
            <a:avLst>
              <a:gd name="adj" fmla="val 2797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B24A40B9-546A-B506-1CD5-06F3A5D91945}"/>
              </a:ext>
            </a:extLst>
          </p:cNvPr>
          <p:cNvSpPr/>
          <p:nvPr/>
        </p:nvSpPr>
        <p:spPr>
          <a:xfrm>
            <a:off x="6498336" y="2565428"/>
            <a:ext cx="2212848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>
              <a:lnSpc>
                <a:spcPct val="118000"/>
              </a:lnSpc>
            </a:pPr>
            <a:r>
              <a:rPr lang="en-US" sz="1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Phase 3</a:t>
            </a:r>
          </a:p>
          <a:p>
            <a:pPr algn="just">
              <a:lnSpc>
                <a:spcPct val="118000"/>
              </a:lnSpc>
            </a:pPr>
            <a:r>
              <a:rPr lang="en-US" sz="1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Rule based intelligence</a:t>
            </a:r>
            <a:endParaRPr lang="en-US" sz="1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8000"/>
              </a:lnSpc>
              <a:buNone/>
            </a:pPr>
            <a:endParaRPr lang="en-US" sz="1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8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 distance based severity zone and a timing pattern anomaly check are combined by a deterministic decision matrix on the server, with results shown and exportable on the dashboard.</a:t>
            </a:r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D17BA8CC-0840-0616-2946-2D1B973425F0}"/>
              </a:ext>
            </a:extLst>
          </p:cNvPr>
          <p:cNvSpPr/>
          <p:nvPr/>
        </p:nvSpPr>
        <p:spPr>
          <a:xfrm>
            <a:off x="9113520" y="2336828"/>
            <a:ext cx="2615184" cy="3520440"/>
          </a:xfrm>
          <a:prstGeom prst="roundRect">
            <a:avLst>
              <a:gd name="adj" fmla="val 2797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983BD137-DADD-D11D-6C17-9E0E4D1B71CD}"/>
              </a:ext>
            </a:extLst>
          </p:cNvPr>
          <p:cNvSpPr/>
          <p:nvPr/>
        </p:nvSpPr>
        <p:spPr>
          <a:xfrm>
            <a:off x="9314688" y="2541044"/>
            <a:ext cx="2212848" cy="3319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>
              <a:lnSpc>
                <a:spcPct val="118000"/>
              </a:lnSpc>
            </a:pPr>
            <a:r>
              <a:rPr lang="en-US" sz="1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Phase 4</a:t>
            </a:r>
          </a:p>
          <a:p>
            <a:pPr algn="just">
              <a:lnSpc>
                <a:spcPct val="118000"/>
              </a:lnSpc>
            </a:pPr>
            <a:r>
              <a:rPr lang="en-US" sz="1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Dual mode classification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8000"/>
              </a:lnSpc>
              <a:buNone/>
            </a:pPr>
            <a:endParaRPr lang="en-US" sz="14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8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physical switch lets each board choose between the Phase 3 server decision matrix and a Decision Tree Classifier running as embedded C++ inference directly on the microcontroller.</a:t>
            </a:r>
          </a:p>
          <a:p>
            <a:pPr marL="0" indent="0" algn="just">
              <a:lnSpc>
                <a:spcPct val="118000"/>
              </a:lnSpc>
              <a:buNone/>
            </a:pPr>
            <a:endParaRPr lang="en-US" sz="14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18000"/>
              </a:lnSpc>
            </a:pPr>
            <a:r>
              <a:rPr lang="en-US" sz="1400" b="1" kern="0" spc="1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CURRENT PHASE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787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84966-C802-3990-55A0-21C33C1CF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1CA3C-4292-C33C-FAD1-422719B81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Introduction to Phase 4 and Problem Statement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0ED21-C09B-5C3A-300F-7AD1F0CAB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13076"/>
            <a:ext cx="7219406" cy="441355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system uses two ESP8266 boards, a Sender on a moving car and a Receiver at a fixed point.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Sender reads an ultrasonic sensor and a motion sensor, then reports detections wirelessly using ESP-NOW.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Aft>
                <a:spcPts val="14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Receiver forwards data to a MySQL database and a live dashboard.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Aft>
                <a:spcPts val="1400"/>
              </a:spcAft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severity in Phase 3 was decided only on the server, so the reaction always waited on the network.</a:t>
            </a:r>
          </a:p>
          <a:p>
            <a:pPr marL="0" indent="0" algn="just">
              <a:lnSpc>
                <a:spcPct val="100000"/>
              </a:lnSpc>
              <a:spcAft>
                <a:spcPts val="1400"/>
              </a:spcAft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in one line: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network delay stood between sensor detection and physical warning.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C44B3-FDD5-FC59-0836-653A023CE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5748AE32-C8EB-1AD5-85BE-CE8F0866C8A9}"/>
              </a:ext>
            </a:extLst>
          </p:cNvPr>
          <p:cNvSpPr/>
          <p:nvPr/>
        </p:nvSpPr>
        <p:spPr>
          <a:xfrm>
            <a:off x="9090561" y="2079996"/>
            <a:ext cx="1874520" cy="82296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Sender</a:t>
            </a:r>
            <a:endParaRPr 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(Car)</a:t>
            </a:r>
            <a:endParaRPr 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6FCB61FE-4DA4-C4AA-C953-06F8C41A465F}"/>
              </a:ext>
            </a:extLst>
          </p:cNvPr>
          <p:cNvSpPr/>
          <p:nvPr/>
        </p:nvSpPr>
        <p:spPr>
          <a:xfrm>
            <a:off x="9090561" y="3552896"/>
            <a:ext cx="1874520" cy="82296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Receiver</a:t>
            </a:r>
            <a:endParaRPr 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(Fixed)</a:t>
            </a:r>
            <a:endParaRPr 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97068EA9-B970-1185-27B7-D239F9DEDB83}"/>
              </a:ext>
            </a:extLst>
          </p:cNvPr>
          <p:cNvSpPr/>
          <p:nvPr/>
        </p:nvSpPr>
        <p:spPr>
          <a:xfrm>
            <a:off x="9090561" y="5042465"/>
            <a:ext cx="1874520" cy="82296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 Server</a:t>
            </a:r>
            <a:endParaRPr 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+ Dashboard</a:t>
            </a:r>
            <a:endParaRPr 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53ED0DC-AB05-3277-A11A-14E52838CBF6}"/>
              </a:ext>
            </a:extLst>
          </p:cNvPr>
          <p:cNvCxnSpPr/>
          <p:nvPr/>
        </p:nvCxnSpPr>
        <p:spPr>
          <a:xfrm>
            <a:off x="10027821" y="2893625"/>
            <a:ext cx="0" cy="659271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9167765-49AF-D97E-BF5C-50A8F71EBDB3}"/>
              </a:ext>
            </a:extLst>
          </p:cNvPr>
          <p:cNvCxnSpPr/>
          <p:nvPr/>
        </p:nvCxnSpPr>
        <p:spPr>
          <a:xfrm>
            <a:off x="10027821" y="4375856"/>
            <a:ext cx="0" cy="666609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214029E-09EC-86BA-671D-A6276B16F213}"/>
              </a:ext>
            </a:extLst>
          </p:cNvPr>
          <p:cNvSpPr txBox="1"/>
          <p:nvPr/>
        </p:nvSpPr>
        <p:spPr>
          <a:xfrm>
            <a:off x="9576482" y="3010726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ESP-NOW</a:t>
            </a:r>
            <a:endParaRPr lang="en-PK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F2E02F-6E2A-83FB-6564-C76BB40EDE4A}"/>
              </a:ext>
            </a:extLst>
          </p:cNvPr>
          <p:cNvSpPr txBox="1"/>
          <p:nvPr/>
        </p:nvSpPr>
        <p:spPr>
          <a:xfrm>
            <a:off x="9488445" y="4519147"/>
            <a:ext cx="12167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i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WiFi</a:t>
            </a:r>
            <a:r>
              <a:rPr lang="en-US" sz="1400" b="1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+ HTTP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52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F3FA3-176F-9A8D-0F9F-E076912AF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6DE55-3905-54C0-61BC-1CD749047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75452"/>
            <a:ext cx="10058400" cy="145075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Objectives</a:t>
            </a:r>
            <a:endParaRPr lang="en-PK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C22D1-F062-0798-F54E-AD329BB89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34583"/>
            <a:ext cx="10058400" cy="4023360"/>
          </a:xfrm>
        </p:spPr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Let each board choose DBMS mode or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TinyML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mode using a switch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 a Decision Tree model and run it directly on ESP8266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Redesign Sender sampling for fast, moving object detection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React instantly with buzzer and LED in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TinyML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mode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Log every on device prediction separately from server data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Show model accuracy and live predictions on the dashboard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93ED1-989D-9600-3957-7DA00FDEE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48634"/>
            <a:ext cx="1312025" cy="365125"/>
          </a:xfrm>
        </p:spPr>
        <p:txBody>
          <a:bodyPr/>
          <a:lstStyle/>
          <a:p>
            <a:fld id="{90F75FD1-72B1-4336-AC67-D121FDE1C694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229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F8AB-02C5-C855-968A-72A090979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Scope of This Phase</a:t>
            </a:r>
            <a:endParaRPr lang="en-P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7C729-62DB-EAF4-09ED-253BE86EC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7E9DD2B7-F148-74A2-1F64-694E66963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896526"/>
              </p:ext>
            </p:extLst>
          </p:nvPr>
        </p:nvGraphicFramePr>
        <p:xfrm>
          <a:off x="1097280" y="1850066"/>
          <a:ext cx="10058400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18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9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Sender Firmware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T w="12700" cap="flat" cmpd="sng" algn="ctr">
                      <a:solidFill>
                        <a:srgbClr val="BD5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800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One second sampling cadence, glitch rejecting recheck, distance based duplicate suppression, and a mode switch controlling local prediction.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T w="12700" cap="flat" cmpd="sng" algn="ctr">
                      <a:solidFill>
                        <a:srgbClr val="BD5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Receiver Firmware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800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Independent mode switch, buzzer and severity LED, and two mode exclusive reaction paths: server forwarding or local Decision Tree inference.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Offline training pipeline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800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scikit-learn Decision Tree trained on labeled detection data;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micromlgen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exports it to shared C++ source for both boards.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Synthetic test data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800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 clearly labeled generator producing balanced volume so the dashboard, its filters, and the trained model can be demonstrated and evaluated.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New database table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8000"/>
                        </a:lnSpc>
                        <a:buNone/>
                      </a:pP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tinyml_predictions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and a dedicated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log_tinyml_result.php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, kept structurally separate from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detection_events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and the DBMS pipeline.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Dashboard additions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B w="12700" cap="flat" cmpd="sng" algn="ctr">
                      <a:solidFill>
                        <a:srgbClr val="BD5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 Machine Learning page showing offline training performance and a live, filterable, exportable log of on device predictions.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B w="12700" cap="flat" cmpd="sng" algn="ctr">
                      <a:solidFill>
                        <a:srgbClr val="BD58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1411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0761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541BF-E4F4-D4B4-FA5B-3F44418A2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CCEBE-905E-11A3-5F6F-29896759A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System Overview and Dual Mode Architecture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23E36-2FDB-24A9-C2AF-0E7BBBA82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53852"/>
            <a:ext cx="10058400" cy="2329841"/>
          </a:xfrm>
        </p:spPr>
        <p:txBody>
          <a:bodyPr/>
          <a:lstStyle/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board decides on its own, DBMS mode or </a:t>
            </a:r>
            <a:r>
              <a:rPr lang="en-US" i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TinyML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mode, using a physical switch.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F312D-32E7-1C3D-EDFC-262263863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0E7C4A71-08C3-E544-BE0C-8A6967BE6AC4}"/>
              </a:ext>
            </a:extLst>
          </p:cNvPr>
          <p:cNvSpPr/>
          <p:nvPr/>
        </p:nvSpPr>
        <p:spPr>
          <a:xfrm>
            <a:off x="1097280" y="2286000"/>
            <a:ext cx="4617720" cy="3931920"/>
          </a:xfrm>
          <a:prstGeom prst="roundRect">
            <a:avLst>
              <a:gd name="adj" fmla="val 2326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PK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ABEA2E8F-0BA8-BEEE-E318-977B84C056EE}"/>
              </a:ext>
            </a:extLst>
          </p:cNvPr>
          <p:cNvSpPr/>
          <p:nvPr/>
        </p:nvSpPr>
        <p:spPr>
          <a:xfrm>
            <a:off x="1215024" y="2514600"/>
            <a:ext cx="4359058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  <a:spcAft>
                <a:spcPts val="1400"/>
              </a:spcAft>
              <a:buSzPct val="100000"/>
            </a:pP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DBMS MODE</a:t>
            </a: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Clr>
                <a:srgbClr val="BD582C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Receiver sends data to server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Clr>
                <a:srgbClr val="BD582C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PHP script computes final status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Clr>
                <a:srgbClr val="BD582C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Distance zone plus pattern anomaly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Clr>
                <a:srgbClr val="BD582C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Needs WiFi and server availability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99D4984A-887F-D2B3-0318-7D700A99F283}"/>
              </a:ext>
            </a:extLst>
          </p:cNvPr>
          <p:cNvSpPr/>
          <p:nvPr/>
        </p:nvSpPr>
        <p:spPr>
          <a:xfrm>
            <a:off x="6586053" y="2286000"/>
            <a:ext cx="4618800" cy="3931920"/>
          </a:xfrm>
          <a:prstGeom prst="roundRect">
            <a:avLst>
              <a:gd name="adj" fmla="val 2326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13A70257-959E-5D6A-B6AF-616E14A9F2EC}"/>
              </a:ext>
            </a:extLst>
          </p:cNvPr>
          <p:cNvSpPr/>
          <p:nvPr/>
        </p:nvSpPr>
        <p:spPr>
          <a:xfrm>
            <a:off x="6640483" y="2514600"/>
            <a:ext cx="4454237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  <a:spcAft>
                <a:spcPts val="1400"/>
              </a:spcAft>
              <a:buSzPct val="100000"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TINYML MODE</a:t>
            </a:r>
            <a:endParaRPr lang="en-US" sz="20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Clr>
                <a:srgbClr val="BD582C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Decision Tree runs on the chip itself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Clr>
                <a:srgbClr val="BD582C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server call needed for reaction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Clr>
                <a:srgbClr val="BD582C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Buzzer and LED react immediately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Clr>
                <a:srgbClr val="BD582C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Prediction logged later, best effort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390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EDF4C-7F61-150E-21DB-958CDD917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On Device Decision Tree Classifier</a:t>
            </a:r>
            <a:endParaRPr lang="en-US" sz="4000" b="1" kern="0" spc="200" dirty="0">
              <a:solidFill>
                <a:schemeClr val="tx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25671-2FC3-C807-4CE9-D8A14FD89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4727377F-5A75-4161-DDBF-B5E88456AB94}"/>
              </a:ext>
            </a:extLst>
          </p:cNvPr>
          <p:cNvSpPr/>
          <p:nvPr/>
        </p:nvSpPr>
        <p:spPr>
          <a:xfrm>
            <a:off x="1066799" y="1810512"/>
            <a:ext cx="5659677" cy="441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>
              <a:lnSpc>
                <a:spcPct val="125000"/>
              </a:lnSpc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Trained offline with scikit-learn on three features already produced by the pipeline, then exported to plain C++ with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micromlgen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so both boards run an identical, dependency free model.</a:t>
            </a:r>
            <a:endParaRPr lang="en-US" sz="20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Distance: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Ultrasonic reading in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centimetres</a:t>
            </a:r>
            <a:endParaRPr lang="en-US" sz="20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Interval: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Seconds since the previous confirmed detection</a:t>
            </a:r>
            <a:endParaRPr lang="en-US" sz="20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Pattern anomaly: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Flag inherited unchanged from Phase 3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 label: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final_status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(normal, warning, critical). Maximum tree depth capped at five so the exported C++ stays small and fast on an ESP8266.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F26A081B-BB47-7E9F-498A-46F187255DE7}"/>
              </a:ext>
            </a:extLst>
          </p:cNvPr>
          <p:cNvSpPr/>
          <p:nvPr/>
        </p:nvSpPr>
        <p:spPr>
          <a:xfrm>
            <a:off x="7006573" y="1816517"/>
            <a:ext cx="4174636" cy="4296184"/>
          </a:xfrm>
          <a:prstGeom prst="roundRect">
            <a:avLst>
              <a:gd name="adj" fmla="val 2299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12ACB1D3-256D-6630-666F-31A3F7068031}"/>
              </a:ext>
            </a:extLst>
          </p:cNvPr>
          <p:cNvSpPr/>
          <p:nvPr/>
        </p:nvSpPr>
        <p:spPr>
          <a:xfrm>
            <a:off x="7042132" y="1810513"/>
            <a:ext cx="4139077" cy="4296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</a:t>
            </a:r>
          </a:p>
          <a:p>
            <a:pPr marL="0" indent="0">
              <a:buNone/>
            </a:pPr>
            <a:endParaRPr lang="en-US" sz="1600" b="1" kern="0" spc="15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The tree splits only on distance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at 7.5 cm and 14.5 cm, the same boundaries as the Phase 3 severity zones, and never branches on interval or the anomaly flag.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Why: the synthetic training labels assign </a:t>
            </a:r>
            <a:r>
              <a:rPr lang="en-US" sz="1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final_status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purely from distance zone, with no exception for a pattern anomaly, so interval and anomaly carry no information the tree can use.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Both extra features stay in the predict signature, ready for a future retraining pass on labels that let the anomaly flag influence the target.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332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17692-5CB2-778D-C15A-0055E6581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Hardware Components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05E1B-3F0A-1953-38FE-CB1E1AF26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B33177-BFE1-4F8B-4F8F-856F68299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336244"/>
              </p:ext>
            </p:extLst>
          </p:nvPr>
        </p:nvGraphicFramePr>
        <p:xfrm>
          <a:off x="1208314" y="2141946"/>
          <a:ext cx="9947366" cy="396494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4973683">
                  <a:extLst>
                    <a:ext uri="{9D8B030D-6E8A-4147-A177-3AD203B41FA5}">
                      <a16:colId xmlns:a16="http://schemas.microsoft.com/office/drawing/2014/main" val="2874666037"/>
                    </a:ext>
                  </a:extLst>
                </a:gridCol>
                <a:gridCol w="4973683">
                  <a:extLst>
                    <a:ext uri="{9D8B030D-6E8A-4147-A177-3AD203B41FA5}">
                      <a16:colId xmlns:a16="http://schemas.microsoft.com/office/drawing/2014/main" val="850879684"/>
                    </a:ext>
                  </a:extLst>
                </a:gridCol>
              </a:tblGrid>
              <a:tr h="56642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  <a:endParaRPr lang="en-PK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PK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3611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NodeMCU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ESP8266</a:t>
                      </a:r>
                      <a:endParaRPr lang="en-PK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Sender and Receiver boards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913420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PIR Motion Sensor</a:t>
                      </a:r>
                      <a:endParaRPr lang="en-PK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Confirms real movement nearby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668328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Ultrasonic Sensor</a:t>
                      </a:r>
                      <a:endParaRPr lang="en-PK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Measures distance to object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976804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LEDs</a:t>
                      </a:r>
                      <a:endParaRPr lang="en-PK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Show mode and status visually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581205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Buzzer</a:t>
                      </a:r>
                      <a:endParaRPr lang="en-PK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Sounds warning and critical alerts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692874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Mode Switch (per board)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Selects DBMS or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TinyML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mode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893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9480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4953D-41B0-09A2-1441-F6932A566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6CF2B-A63F-BD1E-CA12-D45E7516E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Software and Technologies Used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33DD1-3DC2-C330-6B0C-D47B8D1B1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7D9D04F-B8F6-C592-1DDE-9F58758346BF}"/>
              </a:ext>
            </a:extLst>
          </p:cNvPr>
          <p:cNvSpPr/>
          <p:nvPr/>
        </p:nvSpPr>
        <p:spPr>
          <a:xfrm>
            <a:off x="664464" y="2336828"/>
            <a:ext cx="2615184" cy="3520440"/>
          </a:xfrm>
          <a:prstGeom prst="roundRect">
            <a:avLst>
              <a:gd name="adj" fmla="val 2797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3DAE7A8-19E7-7144-FF08-D59EDEDA1069}"/>
              </a:ext>
            </a:extLst>
          </p:cNvPr>
          <p:cNvSpPr/>
          <p:nvPr/>
        </p:nvSpPr>
        <p:spPr>
          <a:xfrm>
            <a:off x="865632" y="2537996"/>
            <a:ext cx="2212848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Firmware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endParaRPr lang="en-US" sz="20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Arduino C++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ESP-NOW Protocol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4DD459B8-C127-5D1E-7515-A7B1EAB4741E}"/>
              </a:ext>
            </a:extLst>
          </p:cNvPr>
          <p:cNvSpPr/>
          <p:nvPr/>
        </p:nvSpPr>
        <p:spPr>
          <a:xfrm>
            <a:off x="3480816" y="2336828"/>
            <a:ext cx="2615184" cy="3520440"/>
          </a:xfrm>
          <a:prstGeom prst="roundRect">
            <a:avLst>
              <a:gd name="adj" fmla="val 2797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7795BBD3-8FDD-4D0C-BAD4-F5080722172F}"/>
              </a:ext>
            </a:extLst>
          </p:cNvPr>
          <p:cNvSpPr/>
          <p:nvPr/>
        </p:nvSpPr>
        <p:spPr>
          <a:xfrm>
            <a:off x="3681984" y="2565428"/>
            <a:ext cx="2212848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endParaRPr lang="en-US" sz="24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 Database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72182090-E21A-A019-99F7-15DC4ED43CA3}"/>
              </a:ext>
            </a:extLst>
          </p:cNvPr>
          <p:cNvSpPr/>
          <p:nvPr/>
        </p:nvSpPr>
        <p:spPr>
          <a:xfrm>
            <a:off x="6297168" y="2336828"/>
            <a:ext cx="2615184" cy="3520440"/>
          </a:xfrm>
          <a:prstGeom prst="roundRect">
            <a:avLst>
              <a:gd name="adj" fmla="val 2797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B2ABE884-A5EF-CE86-9A22-0D187BE32DF1}"/>
              </a:ext>
            </a:extLst>
          </p:cNvPr>
          <p:cNvSpPr/>
          <p:nvPr/>
        </p:nvSpPr>
        <p:spPr>
          <a:xfrm>
            <a:off x="6498336" y="2565428"/>
            <a:ext cx="2212848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Machine Learning</a:t>
            </a:r>
            <a:endParaRPr lang="en-US" sz="24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Python</a:t>
            </a: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scikit-learn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micromlgen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(C++ export)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72B0D124-3A1D-2D7D-6676-0C15613DE7AB}"/>
              </a:ext>
            </a:extLst>
          </p:cNvPr>
          <p:cNvSpPr/>
          <p:nvPr/>
        </p:nvSpPr>
        <p:spPr>
          <a:xfrm>
            <a:off x="9113520" y="2336828"/>
            <a:ext cx="2615184" cy="3520440"/>
          </a:xfrm>
          <a:prstGeom prst="roundRect">
            <a:avLst>
              <a:gd name="adj" fmla="val 2797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15034D21-28D4-CDD3-4CEC-B9EB22024EEB}"/>
              </a:ext>
            </a:extLst>
          </p:cNvPr>
          <p:cNvSpPr/>
          <p:nvPr/>
        </p:nvSpPr>
        <p:spPr>
          <a:xfrm>
            <a:off x="9314688" y="2541044"/>
            <a:ext cx="2212848" cy="3319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</a:t>
            </a:r>
          </a:p>
          <a:p>
            <a:pPr algn="ctr"/>
            <a:endParaRPr lang="en-US" sz="24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HTML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JS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Chart.js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858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2D83A-7309-9D06-E4B1-02DCB53CE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163238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Working Methodology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88472F-F538-76F8-3739-797D2D1E4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001EE4B-BC80-D0A7-CA33-A9099AEB2BBE}"/>
              </a:ext>
            </a:extLst>
          </p:cNvPr>
          <p:cNvSpPr/>
          <p:nvPr/>
        </p:nvSpPr>
        <p:spPr>
          <a:xfrm>
            <a:off x="1097281" y="1883965"/>
            <a:ext cx="4541519" cy="4190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cadence replaced the old fixed wait time, so a moving object is reported right away.</a:t>
            </a:r>
          </a:p>
          <a:p>
            <a:pPr algn="just"/>
            <a:endParaRPr lang="en-US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DBMS Path</a:t>
            </a:r>
          </a:p>
          <a:p>
            <a:pPr algn="just"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goes to server. Server checks distance zone and timing pattern together, then returns final status.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TinyML</a:t>
            </a: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Path</a:t>
            </a:r>
          </a:p>
          <a:p>
            <a:pPr algn="just">
              <a:lnSpc>
                <a:spcPct val="115000"/>
              </a:lnSpc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Decision Tree on the chip checks distance directly, and the buzzer or LED reacts within milliseconds.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FBF7036-34B4-3AF0-A4C1-782B180CF8F0}"/>
              </a:ext>
            </a:extLst>
          </p:cNvPr>
          <p:cNvSpPr/>
          <p:nvPr/>
        </p:nvSpPr>
        <p:spPr>
          <a:xfrm>
            <a:off x="6331901" y="2033077"/>
            <a:ext cx="1691640" cy="914400"/>
          </a:xfrm>
          <a:prstGeom prst="roundRect">
            <a:avLst>
              <a:gd name="adj" fmla="val 10000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9A2E152B-6209-7869-34D5-D387980F4A60}"/>
              </a:ext>
            </a:extLst>
          </p:cNvPr>
          <p:cNvSpPr/>
          <p:nvPr/>
        </p:nvSpPr>
        <p:spPr>
          <a:xfrm>
            <a:off x="6405053" y="2106229"/>
            <a:ext cx="15453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Sample sensors every 1 second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8EDA1B13-911C-ED0D-F325-6F75FEAC6BDE}"/>
              </a:ext>
            </a:extLst>
          </p:cNvPr>
          <p:cNvSpPr/>
          <p:nvPr/>
        </p:nvSpPr>
        <p:spPr>
          <a:xfrm>
            <a:off x="9277616" y="2033077"/>
            <a:ext cx="1691640" cy="914400"/>
          </a:xfrm>
          <a:prstGeom prst="roundRect">
            <a:avLst>
              <a:gd name="adj" fmla="val 10000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B81B3853-AC8F-95B5-FB6D-F65C8641E7D3}"/>
              </a:ext>
            </a:extLst>
          </p:cNvPr>
          <p:cNvSpPr/>
          <p:nvPr/>
        </p:nvSpPr>
        <p:spPr>
          <a:xfrm>
            <a:off x="9350768" y="2106229"/>
            <a:ext cx="15453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Recheck once to reject noise glitch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2EADDFAC-5A67-B77E-735F-BCCCFB912226}"/>
              </a:ext>
            </a:extLst>
          </p:cNvPr>
          <p:cNvSpPr/>
          <p:nvPr/>
        </p:nvSpPr>
        <p:spPr>
          <a:xfrm>
            <a:off x="9277616" y="3497129"/>
            <a:ext cx="1691640" cy="914400"/>
          </a:xfrm>
          <a:prstGeom prst="roundRect">
            <a:avLst>
              <a:gd name="adj" fmla="val 10000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2CA179E4-6EDA-811C-F38A-F6603435A1B5}"/>
              </a:ext>
            </a:extLst>
          </p:cNvPr>
          <p:cNvSpPr/>
          <p:nvPr/>
        </p:nvSpPr>
        <p:spPr>
          <a:xfrm>
            <a:off x="9350768" y="3570281"/>
            <a:ext cx="15453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Compare with last reported distance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4A52A136-9117-65B4-54B6-12B081A000A9}"/>
              </a:ext>
            </a:extLst>
          </p:cNvPr>
          <p:cNvSpPr/>
          <p:nvPr/>
        </p:nvSpPr>
        <p:spPr>
          <a:xfrm>
            <a:off x="6331901" y="3491798"/>
            <a:ext cx="1691640" cy="914400"/>
          </a:xfrm>
          <a:prstGeom prst="roundRect">
            <a:avLst>
              <a:gd name="adj" fmla="val 10000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06E99AA7-7796-3A72-9836-524FDFF34BC4}"/>
              </a:ext>
            </a:extLst>
          </p:cNvPr>
          <p:cNvSpPr/>
          <p:nvPr/>
        </p:nvSpPr>
        <p:spPr>
          <a:xfrm>
            <a:off x="6405053" y="3564950"/>
            <a:ext cx="15453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Send new reading over ESP-NOW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EA266A6F-A76B-FEC4-FFB7-1C8DEB097F3F}"/>
              </a:ext>
            </a:extLst>
          </p:cNvPr>
          <p:cNvSpPr/>
          <p:nvPr/>
        </p:nvSpPr>
        <p:spPr>
          <a:xfrm>
            <a:off x="6331901" y="5054161"/>
            <a:ext cx="1691640" cy="914400"/>
          </a:xfrm>
          <a:prstGeom prst="roundRect">
            <a:avLst>
              <a:gd name="adj" fmla="val 10000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0C272073-DD59-0158-E55F-EE70CC2095F6}"/>
              </a:ext>
            </a:extLst>
          </p:cNvPr>
          <p:cNvSpPr/>
          <p:nvPr/>
        </p:nvSpPr>
        <p:spPr>
          <a:xfrm>
            <a:off x="6405053" y="5127313"/>
            <a:ext cx="15453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Receiver checks its own mode switch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23">
            <a:extLst>
              <a:ext uri="{FF2B5EF4-FFF2-40B4-BE49-F238E27FC236}">
                <a16:creationId xmlns:a16="http://schemas.microsoft.com/office/drawing/2014/main" id="{A0552A55-DFD5-B8D1-D02F-13D4242829FC}"/>
              </a:ext>
            </a:extLst>
          </p:cNvPr>
          <p:cNvSpPr/>
          <p:nvPr/>
        </p:nvSpPr>
        <p:spPr>
          <a:xfrm>
            <a:off x="9277616" y="5054161"/>
            <a:ext cx="1691640" cy="914400"/>
          </a:xfrm>
          <a:prstGeom prst="roundRect">
            <a:avLst>
              <a:gd name="adj" fmla="val 10000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39" name="Text 24">
            <a:extLst>
              <a:ext uri="{FF2B5EF4-FFF2-40B4-BE49-F238E27FC236}">
                <a16:creationId xmlns:a16="http://schemas.microsoft.com/office/drawing/2014/main" id="{6F2C1E29-3E23-E0E5-A506-9F4B23BE8B5F}"/>
              </a:ext>
            </a:extLst>
          </p:cNvPr>
          <p:cNvSpPr/>
          <p:nvPr/>
        </p:nvSpPr>
        <p:spPr>
          <a:xfrm>
            <a:off x="9350768" y="5127313"/>
            <a:ext cx="15453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Server or on device model decides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4C38605-931B-019D-9FE6-15AC612C3A46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>
            <a:off x="8023541" y="2490277"/>
            <a:ext cx="1254075" cy="0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D45BE16-838F-7AD7-7F5F-B3DB31F65BDA}"/>
              </a:ext>
            </a:extLst>
          </p:cNvPr>
          <p:cNvCxnSpPr>
            <a:cxnSpLocks/>
            <a:stCxn id="13" idx="2"/>
            <a:endCxn id="19" idx="0"/>
          </p:cNvCxnSpPr>
          <p:nvPr/>
        </p:nvCxnSpPr>
        <p:spPr>
          <a:xfrm>
            <a:off x="10123436" y="2947477"/>
            <a:ext cx="0" cy="549652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D9D20B0-3E3F-A464-7B5E-3EF535FB331D}"/>
              </a:ext>
            </a:extLst>
          </p:cNvPr>
          <p:cNvCxnSpPr>
            <a:cxnSpLocks/>
            <a:stCxn id="19" idx="1"/>
            <a:endCxn id="25" idx="3"/>
          </p:cNvCxnSpPr>
          <p:nvPr/>
        </p:nvCxnSpPr>
        <p:spPr>
          <a:xfrm flipH="1" flipV="1">
            <a:off x="8023541" y="3948998"/>
            <a:ext cx="1254075" cy="53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DDDB2F1-C5AC-2A2B-AB53-7A605121E9F4}"/>
              </a:ext>
            </a:extLst>
          </p:cNvPr>
          <p:cNvCxnSpPr>
            <a:stCxn id="25" idx="2"/>
            <a:endCxn id="31" idx="0"/>
          </p:cNvCxnSpPr>
          <p:nvPr/>
        </p:nvCxnSpPr>
        <p:spPr>
          <a:xfrm>
            <a:off x="7177721" y="4406198"/>
            <a:ext cx="0" cy="6479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35C518B-3F6F-392C-507A-C666AD781CB0}"/>
              </a:ext>
            </a:extLst>
          </p:cNvPr>
          <p:cNvCxnSpPr/>
          <p:nvPr/>
        </p:nvCxnSpPr>
        <p:spPr>
          <a:xfrm>
            <a:off x="8023541" y="5519398"/>
            <a:ext cx="12540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966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7B970-0C19-427D-0708-3717B20A3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52401"/>
            <a:ext cx="10058400" cy="1584960"/>
          </a:xfrm>
        </p:spPr>
        <p:txBody>
          <a:bodyPr>
            <a:noAutofit/>
          </a:bodyPr>
          <a:lstStyle/>
          <a:p>
            <a:r>
              <a:rPr lang="en-US" sz="4000" b="1" kern="0" spc="1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NETWORKING</a:t>
            </a:r>
            <a:b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Sender to Receiver Link — ESP-NOW Protocol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294F3A-FBD8-818B-2EC2-325BC0A74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86E2052-F17F-E82F-B7CB-A596AACF8821}"/>
              </a:ext>
            </a:extLst>
          </p:cNvPr>
          <p:cNvSpPr/>
          <p:nvPr/>
        </p:nvSpPr>
        <p:spPr>
          <a:xfrm>
            <a:off x="1097281" y="1883965"/>
            <a:ext cx="10058400" cy="4190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Function: carry a confirmed detection from the car to the fixed Receiver, with minimum delay.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OSI Layers Used</a:t>
            </a:r>
          </a:p>
          <a:p>
            <a:pPr marL="285750" indent="-28575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Link Layer: 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MAC level action frames carry the payload</a:t>
            </a:r>
            <a:endParaRPr lang="en-US" sz="20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Physical Layer: 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2.4 GHz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WiFi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radio, no access point needed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ESP-NOW Was Chosen</a:t>
            </a:r>
          </a:p>
          <a:p>
            <a:pPr marL="285750" indent="-28575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pairing or router needed between the two boards</a:t>
            </a:r>
          </a:p>
          <a:p>
            <a:pPr marL="285750" indent="-28575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Very low latency, well suited to real time alerts</a:t>
            </a:r>
          </a:p>
          <a:p>
            <a:pPr marL="285750" indent="-28575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Works using known MAC addresses directly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Alternative Protocols Considered and Why Not Used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Regular </a:t>
            </a:r>
            <a:r>
              <a:rPr lang="en-US" sz="20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WiFi</a:t>
            </a: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+ TCP/IP: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Needs a router, adds connection setup delay and more power use</a:t>
            </a:r>
            <a:endParaRPr lang="en-US" sz="20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Bluetooth / BLE: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Shorter reliable range, pairing overhead not needed here</a:t>
            </a:r>
            <a:endParaRPr lang="en-US" sz="20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Zigbee: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Needs an extra radio module and mesh setup for just two nodes</a:t>
            </a:r>
            <a:endParaRPr lang="en-US" sz="20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LoRa: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Long range but low data rate and higher latency, not needed for a short link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103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CC674-604A-135B-5DC8-6997AACF0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606E0-6213-B463-12F8-7355A5CBA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52401"/>
            <a:ext cx="10058400" cy="1584960"/>
          </a:xfrm>
        </p:spPr>
        <p:txBody>
          <a:bodyPr>
            <a:noAutofit/>
          </a:bodyPr>
          <a:lstStyle/>
          <a:p>
            <a:r>
              <a:rPr lang="en-US" sz="4000" b="1" kern="0" spc="1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NETWORKING</a:t>
            </a:r>
            <a:b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Receiver to Server Link — Full Protocol Stack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93954E-5939-0598-B4BB-8CD02FCDF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88F5EC6F-1831-C6F8-C77F-0407A474D8A3}"/>
              </a:ext>
            </a:extLst>
          </p:cNvPr>
          <p:cNvSpPr/>
          <p:nvPr/>
        </p:nvSpPr>
        <p:spPr>
          <a:xfrm>
            <a:off x="1097281" y="1883965"/>
            <a:ext cx="10058400" cy="435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Function: carry confirmed data from the Receiver to the PHP and MySQL backend.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OSI Layers Used</a:t>
            </a:r>
          </a:p>
          <a:p>
            <a:pPr marL="342900" indent="-34290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 Layer: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HTTP request, JSON body, sent to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receive_data.php</a:t>
            </a:r>
            <a:endParaRPr lang="en-US" sz="20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Transport Layer: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TCP, guarantees ordered and reliable delivery</a:t>
            </a:r>
            <a:endParaRPr lang="en-US" sz="20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Network Layer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IP, gives the Receiver its local address</a:t>
            </a:r>
            <a:endParaRPr lang="en-US" sz="20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Link + Physical: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802.11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WiFi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radio to the home router</a:t>
            </a:r>
            <a:endParaRPr lang="en-US" sz="20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This Stack Was Chosen</a:t>
            </a:r>
          </a:p>
          <a:p>
            <a:pPr marL="342900" indent="-34290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Matches the existing PHP and MySQL backend directly</a:t>
            </a:r>
          </a:p>
          <a:p>
            <a:pPr marL="342900" indent="-34290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JSON over HTTP is human readable and easy to debug</a:t>
            </a:r>
          </a:p>
          <a:p>
            <a:pPr marL="342900" indent="-34290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TCP reliability matters for permanent database writes</a:t>
            </a:r>
          </a:p>
          <a:p>
            <a:pPr algn="just">
              <a:buClr>
                <a:srgbClr val="BD582C"/>
              </a:buClr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Alternative Protocols Considered and Why Not Used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UDP 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Faster but no delivery guarantee, needs custom retry code</a:t>
            </a:r>
          </a:p>
          <a:p>
            <a:pPr marL="342900" indent="-34290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MQTT 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Great for IoT, but needs a separate broker service to run</a:t>
            </a:r>
          </a:p>
          <a:p>
            <a:pPr marL="342900" indent="-34290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CoAP 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for constrained devices, not supported by the PHP backend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738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2BB7F-7416-E283-11C1-CD80CABD5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EB485-0F2C-F970-D675-E54B4CC4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52401"/>
            <a:ext cx="10058400" cy="1584960"/>
          </a:xfrm>
        </p:spPr>
        <p:txBody>
          <a:bodyPr>
            <a:noAutofit/>
          </a:bodyPr>
          <a:lstStyle/>
          <a:p>
            <a:r>
              <a:rPr lang="en-US" sz="4000" b="1" kern="0" spc="1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DBMS</a:t>
            </a:r>
            <a:b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Storing Detection Data — Relational Database Model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19AD0A-701B-2FC5-1C72-09A03C82B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28913302-2D8E-F741-1AFA-03F0BC99692F}"/>
              </a:ext>
            </a:extLst>
          </p:cNvPr>
          <p:cNvSpPr/>
          <p:nvPr/>
        </p:nvSpPr>
        <p:spPr>
          <a:xfrm>
            <a:off x="1097281" y="1883965"/>
            <a:ext cx="10058400" cy="4190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44310E2-02E2-B815-E46E-D2CECDCE55E6}"/>
              </a:ext>
            </a:extLst>
          </p:cNvPr>
          <p:cNvSpPr/>
          <p:nvPr/>
        </p:nvSpPr>
        <p:spPr>
          <a:xfrm>
            <a:off x="1249681" y="1851306"/>
            <a:ext cx="10058400" cy="4190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Function: keep every confirmed detection and prediction, in a form the dashboard can query and filter.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DBMS Concepts Applied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Primary keys uniquely identify each event and prediction</a:t>
            </a:r>
          </a:p>
          <a:p>
            <a:pPr marL="342900" indent="-34290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Foreign keys link sensor readings back to their parent event</a:t>
            </a:r>
          </a:p>
          <a:p>
            <a:pPr marL="342900" indent="-34290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ENUM constraints restrict severity and device role values</a:t>
            </a:r>
          </a:p>
          <a:p>
            <a:pPr marL="342900" indent="-34290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Normalization avoids repeating sensor data inside events</a:t>
            </a:r>
          </a:p>
          <a:p>
            <a:pPr marL="342900" indent="-34290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ACID properties keep writes consistent under concurrent access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BD582C"/>
              </a:buClr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Relational (MySQL) Was Chosen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Fields are fixed and well defined, distance, interval, severity</a:t>
            </a:r>
          </a:p>
          <a:p>
            <a:pPr marL="342900" indent="-34290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Events and readings need reliable joins for the dashboard</a:t>
            </a:r>
          </a:p>
          <a:p>
            <a:pPr marL="342900" indent="-34290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Mature tooling works cleanly with the existing PHP backend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BD582C"/>
              </a:buClr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Alternatives Considered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NoSQL document store: flexible schema not needed here</a:t>
            </a:r>
          </a:p>
          <a:p>
            <a:pPr marL="285750" indent="-28575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Firebase: adds a cloud dependency the local design avoids</a:t>
            </a:r>
          </a:p>
          <a:p>
            <a:pPr marL="285750" indent="-28575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Flat file logging: no indexed queries or joins for filtering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717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7D4B7-E8E5-1DC4-B2E1-3D3E9B210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47994-25EC-C042-541C-55FFCB1E9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52401"/>
            <a:ext cx="10058400" cy="1584960"/>
          </a:xfrm>
        </p:spPr>
        <p:txBody>
          <a:bodyPr>
            <a:noAutofit/>
          </a:bodyPr>
          <a:lstStyle/>
          <a:p>
            <a:r>
              <a:rPr lang="en-US" sz="4000" b="1" kern="0" spc="1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DBMS</a:t>
            </a:r>
            <a:b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Protecting the Database — Prepared Statements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3E8767-8B76-8F39-E679-DAD42AC68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83D4C70C-8862-8AAD-B48F-355A6AC1F195}"/>
              </a:ext>
            </a:extLst>
          </p:cNvPr>
          <p:cNvSpPr/>
          <p:nvPr/>
        </p:nvSpPr>
        <p:spPr>
          <a:xfrm>
            <a:off x="1097281" y="1883965"/>
            <a:ext cx="10058400" cy="4190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7B0FF95-591F-4C22-4DBD-637F239E50DF}"/>
              </a:ext>
            </a:extLst>
          </p:cNvPr>
          <p:cNvSpPr/>
          <p:nvPr/>
        </p:nvSpPr>
        <p:spPr>
          <a:xfrm>
            <a:off x="1249681" y="1840422"/>
            <a:ext cx="10058400" cy="3754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Function: insert every detection and prediction safely, without exposing the database to attack.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Technique Used</a:t>
            </a:r>
          </a:p>
          <a:p>
            <a:pPr marL="342900" indent="-34290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Prepared statements through PHP </a:t>
            </a:r>
            <a:r>
              <a:rPr lang="en-US" sz="24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mysqli</a:t>
            </a:r>
            <a:endParaRPr lang="en-US" sz="24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SQL code and user supplied data are kept separate</a:t>
            </a:r>
          </a:p>
          <a:p>
            <a:pPr marL="342900" indent="-34290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Sensor values are bound as parameters, never concatenated</a:t>
            </a:r>
          </a:p>
          <a:p>
            <a:pPr algn="just">
              <a:buClr>
                <a:srgbClr val="BD582C"/>
              </a:buClr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Alternative Rejected</a:t>
            </a:r>
            <a:endParaRPr lang="en-US" sz="24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rgbClr val="BD582C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Direct string concatenated queries: </a:t>
            </a: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Rejected because malformed or malicious sensor input could alter the query itself, opening a standard SQL injection path into the database.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921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0FA34-94C2-5F2D-A9A3-82A9D363A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25A06-B2E4-344D-71BF-0E0D1A23B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kern="0" spc="1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TINYML</a:t>
            </a:r>
            <a:b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</a:br>
            <a:r>
              <a:rPr lang="en-US" sz="4000" b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TinyML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— The Main Contribution of Phase 4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1B25CA-3EDE-1514-02C3-AD2B03049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09135"/>
            <a:ext cx="10058400" cy="448351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TinyML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means training a model on a full computer, then compressing it to run inference directly on a microcontroller with only kilobytes of memory.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this matters: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 Phase 3, severity was known only after a full network round trip.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TinyML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removes that dependency entirely, the prediction and the physical reaction now happen on the microcontroller itself.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8CA854-26A9-6D97-A1D4-B9B57D8BF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6ABEE284-54D1-C118-761F-533D446B1B9B}"/>
              </a:ext>
            </a:extLst>
          </p:cNvPr>
          <p:cNvSpPr/>
          <p:nvPr/>
        </p:nvSpPr>
        <p:spPr>
          <a:xfrm>
            <a:off x="1097281" y="1883965"/>
            <a:ext cx="10058400" cy="4190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780B86C-6207-47F0-0611-BD0F75BD51BC}"/>
              </a:ext>
            </a:extLst>
          </p:cNvPr>
          <p:cNvSpPr/>
          <p:nvPr/>
        </p:nvSpPr>
        <p:spPr>
          <a:xfrm>
            <a:off x="1208314" y="2302414"/>
            <a:ext cx="2160000" cy="3149572"/>
          </a:xfrm>
          <a:prstGeom prst="roundRect">
            <a:avLst>
              <a:gd name="adj" fmla="val 2797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9511240-657E-142A-096B-8B8DDA0546D0}"/>
              </a:ext>
            </a:extLst>
          </p:cNvPr>
          <p:cNvSpPr/>
          <p:nvPr/>
        </p:nvSpPr>
        <p:spPr>
          <a:xfrm>
            <a:off x="1259121" y="2349909"/>
            <a:ext cx="2070000" cy="30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 Offline</a:t>
            </a:r>
          </a:p>
          <a:p>
            <a:pPr algn="ctr"/>
            <a:endParaRPr lang="en-US" sz="20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train_tinyml_severity.py fits a Decision Tree in scikit-learn on distance, interval, and anomaly flag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76386EA4-3072-C2B7-3FDD-7B19355A392A}"/>
              </a:ext>
            </a:extLst>
          </p:cNvPr>
          <p:cNvSpPr/>
          <p:nvPr/>
        </p:nvSpPr>
        <p:spPr>
          <a:xfrm>
            <a:off x="3837767" y="2302414"/>
            <a:ext cx="2160000" cy="3149572"/>
          </a:xfrm>
          <a:prstGeom prst="roundRect">
            <a:avLst>
              <a:gd name="adj" fmla="val 2797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6E487E9-70B7-F149-A5CC-39D73C461605}"/>
              </a:ext>
            </a:extLst>
          </p:cNvPr>
          <p:cNvSpPr/>
          <p:nvPr/>
        </p:nvSpPr>
        <p:spPr>
          <a:xfrm>
            <a:off x="3893063" y="2347200"/>
            <a:ext cx="2070000" cy="30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Export to C++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</a:pP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micromlgen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converts the fitted tree into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model.h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a small dependency free C++ class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6E225FC4-6836-4417-191B-8EC780D13C18}"/>
              </a:ext>
            </a:extLst>
          </p:cNvPr>
          <p:cNvSpPr/>
          <p:nvPr/>
        </p:nvSpPr>
        <p:spPr>
          <a:xfrm>
            <a:off x="6417314" y="2302414"/>
            <a:ext cx="2160000" cy="3149572"/>
          </a:xfrm>
          <a:prstGeom prst="roundRect">
            <a:avLst>
              <a:gd name="adj" fmla="val 2797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5E0D3F6-A2E5-A531-C4F3-013CA32DE5AA}"/>
              </a:ext>
            </a:extLst>
          </p:cNvPr>
          <p:cNvSpPr/>
          <p:nvPr/>
        </p:nvSpPr>
        <p:spPr>
          <a:xfrm>
            <a:off x="6467731" y="2347200"/>
            <a:ext cx="2070000" cy="30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Compile into Firmware</a:t>
            </a:r>
            <a:endParaRPr lang="en-US" sz="20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</a:pP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model.h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is included directly in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sender.ino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and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receiver.ino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no Python or library needed on chip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4AC38F01-0126-EC47-C289-C5F8E6617E2C}"/>
              </a:ext>
            </a:extLst>
          </p:cNvPr>
          <p:cNvSpPr/>
          <p:nvPr/>
        </p:nvSpPr>
        <p:spPr>
          <a:xfrm>
            <a:off x="8995680" y="2302414"/>
            <a:ext cx="2160000" cy="3149572"/>
          </a:xfrm>
          <a:prstGeom prst="roundRect">
            <a:avLst>
              <a:gd name="adj" fmla="val 2797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742D530-EA2C-8746-8DDA-0DE7BA55E7D7}"/>
              </a:ext>
            </a:extLst>
          </p:cNvPr>
          <p:cNvSpPr/>
          <p:nvPr/>
        </p:nvSpPr>
        <p:spPr>
          <a:xfrm>
            <a:off x="9050512" y="2347200"/>
            <a:ext cx="2070000" cy="30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Infer on Chip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Receiver calls predict() locally and reacts through the buzzer and Yellow LED, no server call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83C66A7-A560-8669-2062-2106E2A55EC5}"/>
              </a:ext>
            </a:extLst>
          </p:cNvPr>
          <p:cNvCxnSpPr/>
          <p:nvPr/>
        </p:nvCxnSpPr>
        <p:spPr>
          <a:xfrm>
            <a:off x="5971781" y="3901282"/>
            <a:ext cx="440219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BFC7482-AE41-453B-1534-2D8D4D71B8C7}"/>
              </a:ext>
            </a:extLst>
          </p:cNvPr>
          <p:cNvCxnSpPr/>
          <p:nvPr/>
        </p:nvCxnSpPr>
        <p:spPr>
          <a:xfrm>
            <a:off x="8583100" y="3901282"/>
            <a:ext cx="440219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5C88C82-4490-FD19-670E-CE9F031137F8}"/>
              </a:ext>
            </a:extLst>
          </p:cNvPr>
          <p:cNvCxnSpPr/>
          <p:nvPr/>
        </p:nvCxnSpPr>
        <p:spPr>
          <a:xfrm>
            <a:off x="3375237" y="3901282"/>
            <a:ext cx="440219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2210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56F5A-7056-17EE-8FD7-60188614C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AC354-2CBA-A4EE-16AD-0D7634D03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kern="0" spc="1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TINYML</a:t>
            </a:r>
            <a:b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On Device Prediction — </a:t>
            </a:r>
            <a:r>
              <a:rPr lang="en-US" sz="4000" b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TinyML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Model Selection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D97B7D-3BFE-7791-72A7-2710DFA09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0D146153-B46D-AA80-7FF9-674C63E115D0}"/>
              </a:ext>
            </a:extLst>
          </p:cNvPr>
          <p:cNvSpPr/>
          <p:nvPr/>
        </p:nvSpPr>
        <p:spPr>
          <a:xfrm>
            <a:off x="1097281" y="1883965"/>
            <a:ext cx="10058400" cy="4190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7AD38A6-0659-6E83-748B-380FF112E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58421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Function: decide severity directly on the microcontroller, with no protocol round trip at all.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Used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scikit-learn Decision Tree Classifier, max depth of five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Trained offline on distance, interval, and anomaly flag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Exported to plain C++ with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micromlgen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no dependencies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Runs the same trained tree on both Sender and Receiver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Decision Tree Was Chosen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Small memory footprint, fits easily in ESP8266 flash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runtime interpreter needed at prediction time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 inference for a simple three feature problem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Alternative Rejected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Neural network with TensorFlow Lite Micro: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Needs a runtime interpreter and more flash and RAM than a three feature, three class problem actually requires.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204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30C00-496C-0086-FB46-927576B99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60781-7CC6-FD3E-3837-FAF837F6C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kern="0" spc="1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Summary</a:t>
            </a:r>
            <a:b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One Function, One Subject, One Justified Choice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A66611-FC65-CD9F-C78D-38E1563D1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9E79C3B2-59CD-760E-3600-BF48EECE5714}"/>
              </a:ext>
            </a:extLst>
          </p:cNvPr>
          <p:cNvSpPr/>
          <p:nvPr/>
        </p:nvSpPr>
        <p:spPr>
          <a:xfrm>
            <a:off x="1097281" y="1883965"/>
            <a:ext cx="10058400" cy="4190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15F2CAA-C05F-3B7A-FFD2-17B11C272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155686"/>
              </p:ext>
            </p:extLst>
          </p:nvPr>
        </p:nvGraphicFramePr>
        <p:xfrm>
          <a:off x="1097279" y="1883964"/>
          <a:ext cx="10058400" cy="4239563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2452166">
                  <a:extLst>
                    <a:ext uri="{9D8B030D-6E8A-4147-A177-3AD203B41FA5}">
                      <a16:colId xmlns:a16="http://schemas.microsoft.com/office/drawing/2014/main" val="2133621498"/>
                    </a:ext>
                  </a:extLst>
                </a:gridCol>
                <a:gridCol w="2123768">
                  <a:extLst>
                    <a:ext uri="{9D8B030D-6E8A-4147-A177-3AD203B41FA5}">
                      <a16:colId xmlns:a16="http://schemas.microsoft.com/office/drawing/2014/main" val="4017545891"/>
                    </a:ext>
                  </a:extLst>
                </a:gridCol>
                <a:gridCol w="2595716">
                  <a:extLst>
                    <a:ext uri="{9D8B030D-6E8A-4147-A177-3AD203B41FA5}">
                      <a16:colId xmlns:a16="http://schemas.microsoft.com/office/drawing/2014/main" val="2116430426"/>
                    </a:ext>
                  </a:extLst>
                </a:gridCol>
                <a:gridCol w="2886750">
                  <a:extLst>
                    <a:ext uri="{9D8B030D-6E8A-4147-A177-3AD203B41FA5}">
                      <a16:colId xmlns:a16="http://schemas.microsoft.com/office/drawing/2014/main" val="2563893749"/>
                    </a:ext>
                  </a:extLst>
                </a:gridCol>
              </a:tblGrid>
              <a:tr h="5986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K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Function</a:t>
                      </a:r>
                      <a:endParaRPr lang="en-US" sz="180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Subject</a:t>
                      </a:r>
                      <a:r>
                        <a:rPr lang="en-PK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PK" sz="180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K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Chosen Approach</a:t>
                      </a:r>
                      <a:endParaRPr lang="en-US" sz="180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K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Main Alternative Rejected</a:t>
                      </a:r>
                      <a:endParaRPr lang="en-US" sz="180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891254"/>
                  </a:ext>
                </a:extLst>
              </a:tr>
              <a:tr h="5986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Sender to Receiver link</a:t>
                      </a:r>
                      <a:endParaRPr lang="en-US" sz="18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Computer Networks</a:t>
                      </a:r>
                      <a:endParaRPr lang="en-PK" sz="180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ESP-NOW (OSI L1-L2)</a:t>
                      </a:r>
                      <a:endParaRPr lang="en-US" sz="180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WiFi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, Bluetooth, Zigbee, LoRa</a:t>
                      </a:r>
                      <a:endParaRPr lang="en-US" sz="180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410991"/>
                  </a:ext>
                </a:extLst>
              </a:tr>
              <a:tr h="5986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Receiver to Server link</a:t>
                      </a:r>
                      <a:endParaRPr lang="en-US" sz="18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Computer Networks</a:t>
                      </a:r>
                      <a:endParaRPr lang="en-PK" sz="180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WiFi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+ TCP/IP + HTTP</a:t>
                      </a:r>
                      <a:endParaRPr lang="en-US" sz="180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UDP, MQTT, CoAP</a:t>
                      </a:r>
                      <a:endParaRPr lang="en-US" sz="180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319610"/>
                  </a:ext>
                </a:extLst>
              </a:tr>
              <a:tr h="5986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Detection data storage</a:t>
                      </a:r>
                      <a:endParaRPr lang="en-US" sz="18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Database Management System</a:t>
                      </a:r>
                      <a:endParaRPr lang="en-PK" sz="180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MySQL relational model</a:t>
                      </a:r>
                      <a:endParaRPr lang="en-US" sz="180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NoSQL, Firebase, flat file</a:t>
                      </a:r>
                      <a:r>
                        <a:rPr lang="en-PK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PK" sz="180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681138"/>
                  </a:ext>
                </a:extLst>
              </a:tr>
              <a:tr h="5986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Insert query safety</a:t>
                      </a:r>
                      <a:endParaRPr lang="en-US" sz="18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Database Management System</a:t>
                      </a:r>
                      <a:endParaRPr lang="en-PK" sz="180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Prepared statements</a:t>
                      </a:r>
                      <a:endParaRPr lang="en-US" sz="180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String concatenated SQL</a:t>
                      </a:r>
                      <a:endParaRPr lang="en-US" sz="180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992732"/>
                  </a:ext>
                </a:extLst>
              </a:tr>
              <a:tr h="5986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On chip severity prediction</a:t>
                      </a:r>
                      <a:endParaRPr lang="en-US" sz="18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sz="1800" kern="100" dirty="0" err="1">
                          <a:solidFill>
                            <a:schemeClr val="tx1"/>
                          </a:solidFill>
                          <a:effectLst/>
                        </a:rPr>
                        <a:t>TinyML</a:t>
                      </a:r>
                      <a:endParaRPr lang="en-PK" sz="180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Decision Tree +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micromlgen</a:t>
                      </a:r>
                      <a:endParaRPr lang="en-US" sz="180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Neural net +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TFLite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Micro</a:t>
                      </a:r>
                      <a:r>
                        <a:rPr lang="en-PK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PK" sz="1800" i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126219"/>
                  </a:ext>
                </a:extLst>
              </a:tr>
              <a:tr h="598609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Each row uses the vocabulary of its own subject, networking terms for links, DBMS terms for storage, and </a:t>
                      </a:r>
                      <a:r>
                        <a:rPr lang="en-US" sz="1800" b="0" dirty="0" err="1">
                          <a:solidFill>
                            <a:schemeClr val="tx1"/>
                          </a:solidFill>
                        </a:rPr>
                        <a:t>TinyML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 terms for on chip prediction.</a:t>
                      </a:r>
                      <a:endParaRPr lang="en-US" sz="18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1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0768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763E20-7E4D-4FBE-9BBF-D20B9B467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Implementation: Circuit and Code Overview</a:t>
            </a:r>
            <a:endParaRPr lang="en-PK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80AC37A-A696-AEB2-3643-FEEC1C80B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Circuit Setup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Sender: ultrasonic + PIR sensor, mode switch on pin D4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Receiver: buzzer + 3 LEDs, mode switch on pin D7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Internal pull up resistor used, so no extra resistor needed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Green/Red LEDs for DBMS mode, Yellow LED for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TinyML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mode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Code Overview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sender.ino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reads sensors, runs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model.h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if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TinyML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mode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receiver.ino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sends to server or predicts locally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model.h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Decision Tree exported to plain C++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receive_data.php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+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log_tinyml_result.php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205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790D6-E36C-F6A7-9B63-A31FA5C54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5C46D1-9617-DB5D-2D5A-73295D553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Results and Live Demonstration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64D2C81-1B74-9769-0B91-A43AE2A42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 shows live severity, sensor history, and model predictions.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Confusion matrix confirms every test row was classified correctly.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TinyML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mode reacts through buzzer and LED, no server needed.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Live demo: switch modes on both boards and show instant reaction.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 err="1">
              <a:solidFill>
                <a:schemeClr val="tx1"/>
              </a:solidFill>
              <a:latin typeface="Times New Roman" panose="02020603050405020304" pitchFamily="18" charset="0"/>
              <a:ea typeface="Courier New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19C1289A-A352-833F-FE80-1F9DE48A0441}"/>
              </a:ext>
            </a:extLst>
          </p:cNvPr>
          <p:cNvSpPr/>
          <p:nvPr/>
        </p:nvSpPr>
        <p:spPr>
          <a:xfrm>
            <a:off x="906044" y="2094273"/>
            <a:ext cx="2514600" cy="1371600"/>
          </a:xfrm>
          <a:prstGeom prst="roundRect">
            <a:avLst>
              <a:gd name="adj" fmla="val 6667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411F5D12-A706-7DAB-8DC8-25EB45DF3139}"/>
              </a:ext>
            </a:extLst>
          </p:cNvPr>
          <p:cNvSpPr/>
          <p:nvPr/>
        </p:nvSpPr>
        <p:spPr>
          <a:xfrm>
            <a:off x="906044" y="2231433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30,010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Confirmed Events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3E9E0FE8-9D68-4158-B9C5-D99C2AC0812C}"/>
              </a:ext>
            </a:extLst>
          </p:cNvPr>
          <p:cNvSpPr/>
          <p:nvPr/>
        </p:nvSpPr>
        <p:spPr>
          <a:xfrm>
            <a:off x="3621812" y="2094273"/>
            <a:ext cx="2514600" cy="1371600"/>
          </a:xfrm>
          <a:prstGeom prst="roundRect">
            <a:avLst>
              <a:gd name="adj" fmla="val 6667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AA71682A-2945-CE87-57F4-0F2D89D03221}"/>
              </a:ext>
            </a:extLst>
          </p:cNvPr>
          <p:cNvSpPr/>
          <p:nvPr/>
        </p:nvSpPr>
        <p:spPr>
          <a:xfrm>
            <a:off x="3621812" y="2231433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90.85%</a:t>
            </a:r>
            <a:endParaRPr lang="en-US" sz="3400" b="1" dirty="0">
              <a:latin typeface="Times New Roman" panose="02020603050405020304" pitchFamily="18" charset="0"/>
              <a:ea typeface="Cambria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 Accuracy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1EB7E73C-C098-6311-FE11-61D01D8C64E2}"/>
              </a:ext>
            </a:extLst>
          </p:cNvPr>
          <p:cNvSpPr/>
          <p:nvPr/>
        </p:nvSpPr>
        <p:spPr>
          <a:xfrm>
            <a:off x="6337580" y="2094273"/>
            <a:ext cx="2514600" cy="1371600"/>
          </a:xfrm>
          <a:prstGeom prst="roundRect">
            <a:avLst>
              <a:gd name="adj" fmla="val 6667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9B9666B2-C6B3-A85C-BEE0-94B580085606}"/>
              </a:ext>
            </a:extLst>
          </p:cNvPr>
          <p:cNvSpPr/>
          <p:nvPr/>
        </p:nvSpPr>
        <p:spPr>
          <a:xfrm>
            <a:off x="6337580" y="2231432"/>
            <a:ext cx="2514600" cy="1142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18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Live Predictions Logged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12">
            <a:extLst>
              <a:ext uri="{FF2B5EF4-FFF2-40B4-BE49-F238E27FC236}">
                <a16:creationId xmlns:a16="http://schemas.microsoft.com/office/drawing/2014/main" id="{613409DE-D204-300B-6DD2-BDCD7C3D2117}"/>
              </a:ext>
            </a:extLst>
          </p:cNvPr>
          <p:cNvSpPr/>
          <p:nvPr/>
        </p:nvSpPr>
        <p:spPr>
          <a:xfrm>
            <a:off x="9053348" y="2094273"/>
            <a:ext cx="2514600" cy="1371600"/>
          </a:xfrm>
          <a:prstGeom prst="roundRect">
            <a:avLst>
              <a:gd name="adj" fmla="val 6667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sp>
      <p:sp>
        <p:nvSpPr>
          <p:cNvPr id="59" name="Text 13">
            <a:extLst>
              <a:ext uri="{FF2B5EF4-FFF2-40B4-BE49-F238E27FC236}">
                <a16:creationId xmlns:a16="http://schemas.microsoft.com/office/drawing/2014/main" id="{F3334DCD-6362-8699-6B74-6C21C343A93D}"/>
              </a:ext>
            </a:extLst>
          </p:cNvPr>
          <p:cNvSpPr/>
          <p:nvPr/>
        </p:nvSpPr>
        <p:spPr>
          <a:xfrm>
            <a:off x="9053348" y="2231433"/>
            <a:ext cx="2514600" cy="1142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63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Pattern Anomalies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400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830A-E3CE-CD22-5C9F-E4109781D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BFD09-B43D-07BF-A94B-AC7909228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Challenges and Future Improvements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011A47-9A32-6D99-4E0F-9337AA65F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9A01FD0-1ABF-6620-35C9-13245190AE0B}"/>
              </a:ext>
            </a:extLst>
          </p:cNvPr>
          <p:cNvGrpSpPr/>
          <p:nvPr/>
        </p:nvGrpSpPr>
        <p:grpSpPr>
          <a:xfrm>
            <a:off x="1097280" y="1949233"/>
            <a:ext cx="10058400" cy="4195088"/>
            <a:chOff x="548640" y="1645920"/>
            <a:chExt cx="10881360" cy="4526280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1AEC3BBE-B454-A95B-D18F-56FE8E525F80}"/>
                </a:ext>
              </a:extLst>
            </p:cNvPr>
            <p:cNvSpPr/>
            <p:nvPr/>
          </p:nvSpPr>
          <p:spPr>
            <a:xfrm>
              <a:off x="548640" y="1645920"/>
              <a:ext cx="5349240" cy="4526280"/>
            </a:xfrm>
            <a:prstGeom prst="roundRect">
              <a:avLst>
                <a:gd name="adj" fmla="val 1212"/>
              </a:avLst>
            </a:prstGeom>
            <a:solidFill>
              <a:srgbClr val="F3F5F8"/>
            </a:solidFill>
            <a:ln w="12700">
              <a:solidFill>
                <a:srgbClr val="E1E5EA"/>
              </a:solidFill>
              <a:prstDash val="solid"/>
            </a:ln>
          </p:spPr>
        </p:sp>
        <p:sp>
          <p:nvSpPr>
            <p:cNvPr id="9" name="Shape 13">
              <a:extLst>
                <a:ext uri="{FF2B5EF4-FFF2-40B4-BE49-F238E27FC236}">
                  <a16:creationId xmlns:a16="http://schemas.microsoft.com/office/drawing/2014/main" id="{54A7F5CF-06C3-47BF-8784-9A82025329D3}"/>
                </a:ext>
              </a:extLst>
            </p:cNvPr>
            <p:cNvSpPr/>
            <p:nvPr/>
          </p:nvSpPr>
          <p:spPr>
            <a:xfrm>
              <a:off x="6080760" y="1645920"/>
              <a:ext cx="5349240" cy="4526280"/>
            </a:xfrm>
            <a:prstGeom prst="roundRect">
              <a:avLst>
                <a:gd name="adj" fmla="val 1212"/>
              </a:avLst>
            </a:prstGeom>
            <a:solidFill>
              <a:srgbClr val="F3F5F8"/>
            </a:solidFill>
            <a:ln w="12700">
              <a:solidFill>
                <a:srgbClr val="E1E5EA"/>
              </a:solidFill>
              <a:prstDash val="solid"/>
            </a:ln>
          </p:spPr>
        </p: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1E7B91B-78CA-1812-92A1-0C808452E45D}"/>
              </a:ext>
            </a:extLst>
          </p:cNvPr>
          <p:cNvSpPr txBox="1">
            <a:spLocks/>
          </p:cNvSpPr>
          <p:nvPr/>
        </p:nvSpPr>
        <p:spPr>
          <a:xfrm>
            <a:off x="1097279" y="1949233"/>
            <a:ext cx="4944675" cy="4195088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Challenges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only learned distance, not timing pattern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Perfect accuracy came from clean synthetic labels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Manual testing skewed pattern anomaly results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DBMS and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TinyML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labels are not fully comparable yet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9AD5447-7DCF-EE97-875D-5F6DB3104B5F}"/>
              </a:ext>
            </a:extLst>
          </p:cNvPr>
          <p:cNvSpPr txBox="1">
            <a:spLocks/>
          </p:cNvSpPr>
          <p:nvPr/>
        </p:nvSpPr>
        <p:spPr>
          <a:xfrm>
            <a:off x="6220331" y="1969305"/>
            <a:ext cx="4944675" cy="419508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Future Work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Retrain model on the same labels as server logic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Compare DBMS and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TinyML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results event by event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Run a longer test with a real moving object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 database transactions for safer data saving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Evaluate Isolation Forest anomaly models formally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451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FA299-2ABD-59CF-24F4-06B24A301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kern="0" spc="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D3498-CA15-428E-E105-4ED2229A0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5BDB1CEA-B893-20CE-D032-8BC7493D020F}"/>
              </a:ext>
            </a:extLst>
          </p:cNvPr>
          <p:cNvSpPr/>
          <p:nvPr/>
        </p:nvSpPr>
        <p:spPr>
          <a:xfrm>
            <a:off x="1179870" y="1868130"/>
            <a:ext cx="10032613" cy="42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project built a real time obstacle detection system that can decide severity in two ways, through a server based decision matrix or through a Decision Tree running directly on the microcontroller.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function, from the wireless link, to the database, to the on chip model, was designed using the rules of its own subject and justified against real alternatives.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Both approaches remain clearly separated in the data, keeping the results honest and easy to compare.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78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01779-B490-5E4C-9EBF-C7F4A97E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75FD1-72B1-4336-AC67-D121FDE1C694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4E9408-D053-237B-32DB-4080564F8662}"/>
              </a:ext>
            </a:extLst>
          </p:cNvPr>
          <p:cNvSpPr txBox="1"/>
          <p:nvPr/>
        </p:nvSpPr>
        <p:spPr>
          <a:xfrm>
            <a:off x="3048699" y="1418912"/>
            <a:ext cx="60946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Thank You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373A9644-B425-6348-9286-D660793034E9}"/>
              </a:ext>
            </a:extLst>
          </p:cNvPr>
          <p:cNvSpPr/>
          <p:nvPr/>
        </p:nvSpPr>
        <p:spPr>
          <a:xfrm>
            <a:off x="3048" y="2099765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Questions?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0ECDC19A-CC23-A2A5-9AAC-97C983A26219}"/>
              </a:ext>
            </a:extLst>
          </p:cNvPr>
          <p:cNvSpPr/>
          <p:nvPr/>
        </p:nvSpPr>
        <p:spPr>
          <a:xfrm>
            <a:off x="1371600" y="45720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 Time Device to Device Wireless Communication System Using ESP-NOW Protocol (Phase 4)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06636578-8F79-E0E5-565E-7165F3C4B5FE}"/>
              </a:ext>
            </a:extLst>
          </p:cNvPr>
          <p:cNvSpPr/>
          <p:nvPr/>
        </p:nvSpPr>
        <p:spPr>
          <a:xfrm>
            <a:off x="1371600" y="493776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Abdul Rehman   |   BSCS   |   Allama Iqbal Open University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25844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532</TotalTime>
  <Words>2280</Words>
  <Application>Microsoft Office PowerPoint</Application>
  <PresentationFormat>Widescreen</PresentationFormat>
  <Paragraphs>317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Calibri</vt:lpstr>
      <vt:lpstr>Calibri Light</vt:lpstr>
      <vt:lpstr>Times New Roman</vt:lpstr>
      <vt:lpstr>Wingdings</vt:lpstr>
      <vt:lpstr>Retrospect</vt:lpstr>
      <vt:lpstr>PowerPoint Presentation</vt:lpstr>
      <vt:lpstr>Background</vt:lpstr>
      <vt:lpstr>Introduction to Phase 4 and Problem Statement</vt:lpstr>
      <vt:lpstr>Objectives</vt:lpstr>
      <vt:lpstr>Scope of This Phase</vt:lpstr>
      <vt:lpstr>System Overview and Dual Mode Architecture</vt:lpstr>
      <vt:lpstr>On Device Decision Tree Classifier</vt:lpstr>
      <vt:lpstr>Hardware Components</vt:lpstr>
      <vt:lpstr>Software and Technologies Used</vt:lpstr>
      <vt:lpstr>Working Methodology</vt:lpstr>
      <vt:lpstr>NETWORKING Sender to Receiver Link — ESP-NOW Protocol</vt:lpstr>
      <vt:lpstr>NETWORKING Receiver to Server Link — Full Protocol Stack</vt:lpstr>
      <vt:lpstr>DBMS Storing Detection Data — Relational Database Model</vt:lpstr>
      <vt:lpstr>DBMS Protecting the Database — Prepared Statements</vt:lpstr>
      <vt:lpstr>TINYML TinyML — The Main Contribution of Phase 4</vt:lpstr>
      <vt:lpstr>TINYML On Device Prediction — TinyML Model Selection</vt:lpstr>
      <vt:lpstr>Summary One Function, One Subject, One Justified Choice</vt:lpstr>
      <vt:lpstr>Implementation: Circuit and Code Overview</vt:lpstr>
      <vt:lpstr>Results and Live Demonstration</vt:lpstr>
      <vt:lpstr>Challenges and Future Improvements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Rehman</dc:creator>
  <cp:lastModifiedBy>Abdul Rehman</cp:lastModifiedBy>
  <cp:revision>49</cp:revision>
  <dcterms:created xsi:type="dcterms:W3CDTF">2026-05-18T02:09:00Z</dcterms:created>
  <dcterms:modified xsi:type="dcterms:W3CDTF">2026-08-19T03:53:00Z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